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1371600"/>
            <a:ext cx="4572000" cy="3657600"/>
          </a:xfrm>
          <a:prstGeom prst="ellipse">
            <a:avLst/>
          </a:prstGeom>
          <a:solidFill>
            <a:srgbClr val="0D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47472"/>
            <a:ext cx="1828800" cy="594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1051560"/>
            <a:ext cx="5303520" cy="12700"/>
          </a:xfrm>
          <a:prstGeom prst="rect">
            <a:avLst/>
          </a:prstGeom>
          <a:solidFill>
            <a:srgbClr val="1E3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A08B52"/>
                </a:solidFill>
                <a:latin typeface="Courier New"/>
              </a:rPr>
              <a:t>PASTOR'S PROTOCOL CENTRAL ·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486400" cy="2377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7200" b="1">
                <a:solidFill>
                  <a:srgbClr val="F1DDB0"/>
                </a:solidFill>
                <a:latin typeface="Garamond"/>
              </a:rPr>
              <a:t>How It</a:t>
            </a:r>
          </a:p>
          <a:p>
            <a:pPr algn="l">
              <a:spcAft>
                <a:spcPts val="200"/>
              </a:spcAft>
            </a:pPr>
            <a:r>
              <a:rPr sz="7200" b="1">
                <a:solidFill>
                  <a:srgbClr val="D6BB75"/>
                </a:solidFill>
                <a:latin typeface="Garamond"/>
              </a:rPr>
              <a:t>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03320"/>
            <a:ext cx="51206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B4C4B7"/>
                </a:solidFill>
                <a:latin typeface="Calibri"/>
              </a:rPr>
              <a:t>A guided tour of the dignitary seating management system
— from signing in to the live control centre.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681728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0D1712"/>
          </a:solidFill>
          <a:ln w="6350">
            <a:solidFill>
              <a:srgbClr val="A08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D6BB75"/>
                </a:solidFill>
                <a:latin typeface="Calibri"/>
              </a:rPr>
              <a:t>Conferences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92808" y="4681728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22C55E"/>
                </a:solidFill>
                <a:latin typeface="Calibri"/>
              </a:rPr>
              <a:t>Live Attendance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82696" y="4681728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B4C4B7"/>
                </a:solidFill>
                <a:latin typeface="Calibri"/>
              </a:rPr>
              <a:t>Seating Maps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72583" y="4681728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B4C4B7"/>
                </a:solidFill>
                <a:latin typeface="Calibri"/>
              </a:rPr>
              <a:t>Role-based Access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097280"/>
            <a:ext cx="9144" cy="12700"/>
          </a:xfrm>
          <a:prstGeom prst="rect">
            <a:avLst/>
          </a:prstGeom>
          <a:solidFill>
            <a:srgbClr val="A0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1097280"/>
            <a:ext cx="12700" cy="4754880"/>
          </a:xfrm>
          <a:prstGeom prst="rect">
            <a:avLst/>
          </a:prstGeom>
          <a:solidFill>
            <a:srgbClr val="1A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371600"/>
            <a:ext cx="20116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200" b="1" i="0">
                <a:solidFill>
                  <a:srgbClr val="F1DDB0"/>
                </a:solidFill>
                <a:latin typeface="Garamond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08483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5A7060"/>
                </a:solidFill>
                <a:latin typeface="Courier New"/>
              </a:rPr>
              <a:t>APP SCREENS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2450592"/>
            <a:ext cx="1645920" cy="12700"/>
          </a:xfrm>
          <a:prstGeom prst="rect">
            <a:avLst/>
          </a:prstGeom>
          <a:solidFill>
            <a:srgbClr val="1E3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788920"/>
            <a:ext cx="20116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200" b="1" i="0">
                <a:solidFill>
                  <a:srgbClr val="F1DDB0"/>
                </a:solidFill>
                <a:latin typeface="Garamon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50215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5A7060"/>
                </a:solidFill>
                <a:latin typeface="Courier New"/>
              </a:rPr>
              <a:t>ACCESS ROLES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3867912"/>
            <a:ext cx="1645920" cy="12700"/>
          </a:xfrm>
          <a:prstGeom prst="rect">
            <a:avLst/>
          </a:prstGeom>
          <a:solidFill>
            <a:srgbClr val="1E3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4206240"/>
            <a:ext cx="20116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200" b="1" i="0">
                <a:solidFill>
                  <a:srgbClr val="F1DDB0"/>
                </a:solidFill>
                <a:latin typeface="Garamond"/>
              </a:rPr>
              <a:t>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91947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0">
                <a:solidFill>
                  <a:srgbClr val="5A7060"/>
                </a:solidFill>
                <a:latin typeface="Courier New"/>
              </a:rPr>
              <a:t>CONFERENCES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55448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74980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A08B52"/>
                </a:solidFill>
                <a:latin typeface="Courier New"/>
              </a:rPr>
              <a:t>WHY WE BUILT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8229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F1DDB0"/>
                </a:solidFill>
                <a:latin typeface="Garamond"/>
              </a:rPr>
              <a:t>The Challenge of Large Conferences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7772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B4C4B7"/>
                </a:solidFill>
                <a:latin typeface="Calibri"/>
              </a:rPr>
              <a:t>Managing where hundreds of pastors and dignitaries sit across multiple sessions is complex, error-prone, and stressful without the right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33472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761488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EDF4EE"/>
                </a:solidFill>
                <a:latin typeface="Calibri"/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761488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DF4EE"/>
                </a:solidFill>
                <a:latin typeface="Garamond"/>
              </a:rPr>
              <a:t>Spreadsheet Chaos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200400"/>
            <a:ext cx="5065776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EA191"/>
                </a:solidFill>
                <a:latin typeface="Calibri"/>
              </a:rPr>
              <a:t>Paper lists and spreadsheets get lost, go out of date, and can't show real-time arrival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633472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2761488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EDF4EE"/>
                </a:solidFill>
                <a:latin typeface="Calibri"/>
              </a:rPr>
              <a:t>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761488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DF4EE"/>
                </a:solidFill>
                <a:latin typeface="Garamond"/>
              </a:rPr>
              <a:t>No Visual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200400"/>
            <a:ext cx="5065776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EA191"/>
                </a:solidFill>
                <a:latin typeface="Calibri"/>
              </a:rPr>
              <a:t>Without a floor plan view, protocol officers can't quickly see which seats are taken or empty.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590288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718304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EDF4EE"/>
                </a:solidFill>
                <a:latin typeface="Calibri"/>
              </a:rPr>
              <a:t>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718304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DF4EE"/>
                </a:solidFill>
                <a:latin typeface="Garamond"/>
              </a:rPr>
              <a:t>Team Coordination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157216"/>
            <a:ext cx="5065776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EA191"/>
                </a:solidFill>
                <a:latin typeface="Calibri"/>
              </a:rPr>
              <a:t>Multiple officers working from different lists leads to double-bookings and missed guests.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590288"/>
            <a:ext cx="5394960" cy="169164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4718304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EDF4EE"/>
                </a:solidFill>
                <a:latin typeface="Calibri"/>
              </a:rP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718304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DF4EE"/>
                </a:solidFill>
                <a:latin typeface="Garamond"/>
              </a:rPr>
              <a:t>Repeated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5157216"/>
            <a:ext cx="5065776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EA191"/>
                </a:solidFill>
                <a:latin typeface="Calibri"/>
              </a:rPr>
              <a:t>Each conference session means starting over — re-entering the same pastors, re-assigning seats.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55448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74980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A08B52"/>
                </a:solidFill>
                <a:latin typeface="Courier New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8229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200" b="1" i="0">
                <a:solidFill>
                  <a:srgbClr val="F1DDB0"/>
                </a:solidFill>
                <a:latin typeface="Garamond"/>
              </a:rPr>
              <a:t>One System, Every Event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8229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B4C4B7"/>
                </a:solidFill>
                <a:latin typeface="Calibri"/>
              </a:rPr>
              <a:t>Pastors' Protocol Central brings every part of dignitary management into a single, beautiful web app your whole protocol team can access together.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33472"/>
            <a:ext cx="2514600" cy="2834640"/>
          </a:xfrm>
          <a:prstGeom prst="roundRect">
            <a:avLst>
              <a:gd name="adj" fmla="val 5000"/>
            </a:avLst>
          </a:prstGeom>
          <a:solidFill>
            <a:srgbClr val="121F18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770632"/>
            <a:ext cx="457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A08B52"/>
                </a:solidFill>
                <a:latin typeface="Garamon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98064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EDF4EE"/>
                </a:solidFill>
                <a:latin typeface="Calibri"/>
              </a:rPr>
              <a:t>🏟️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383280"/>
            <a:ext cx="2185416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EDF4EE"/>
                </a:solidFill>
                <a:latin typeface="Garamond"/>
              </a:rPr>
              <a:t>Set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913632"/>
            <a:ext cx="2185416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EA191"/>
                </a:solidFill>
                <a:latin typeface="Calibri"/>
              </a:rPr>
              <a:t>Create the event, pick the auditorium, add sessions.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54096" y="3913632"/>
            <a:ext cx="274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 i="0">
                <a:solidFill>
                  <a:srgbClr val="5A7060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2633472"/>
            <a:ext cx="2514600" cy="2834640"/>
          </a:xfrm>
          <a:prstGeom prst="roundRect">
            <a:avLst>
              <a:gd name="adj" fmla="val 5000"/>
            </a:avLst>
          </a:prstGeom>
          <a:solidFill>
            <a:srgbClr val="121F18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2770632"/>
            <a:ext cx="457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A08B52"/>
                </a:solidFill>
                <a:latin typeface="Garamon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798064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EDF4EE"/>
                </a:solidFill>
                <a:latin typeface="Calibri"/>
              </a:rPr>
              <a:t>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3383280"/>
            <a:ext cx="2185416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EDF4EE"/>
                </a:solidFill>
                <a:latin typeface="Garamond"/>
              </a:rPr>
              <a:t>Build Roster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3913632"/>
            <a:ext cx="2185416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EA191"/>
                </a:solidFill>
                <a:latin typeface="Calibri"/>
              </a:rPr>
              <a:t>Add dignitaries to a shared directory, assign to sessions.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7296" y="3913632"/>
            <a:ext cx="274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 i="0">
                <a:solidFill>
                  <a:srgbClr val="5A7060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2633472"/>
            <a:ext cx="2514600" cy="2834640"/>
          </a:xfrm>
          <a:prstGeom prst="roundRect">
            <a:avLst>
              <a:gd name="adj" fmla="val 5000"/>
            </a:avLst>
          </a:prstGeom>
          <a:solidFill>
            <a:srgbClr val="121F18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2770632"/>
            <a:ext cx="457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A08B52"/>
                </a:solidFill>
                <a:latin typeface="Garamon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2798064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EDF4EE"/>
                </a:solidFill>
                <a:latin typeface="Calibri"/>
              </a:rPr>
              <a:t>🗺️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3383280"/>
            <a:ext cx="2185416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EDF4EE"/>
                </a:solidFill>
                <a:latin typeface="Garamond"/>
              </a:rPr>
              <a:t>Assign Seats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912" y="3913632"/>
            <a:ext cx="2185416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EA191"/>
                </a:solidFill>
                <a:latin typeface="Calibri"/>
              </a:rPr>
              <a:t>Click the floor plan to place each pastor's seat.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0496" y="3913632"/>
            <a:ext cx="274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 i="0">
                <a:solidFill>
                  <a:srgbClr val="5A7060"/>
                </a:solidFill>
                <a:latin typeface="Calibr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2633472"/>
            <a:ext cx="2514600" cy="2834640"/>
          </a:xfrm>
          <a:prstGeom prst="roundRect">
            <a:avLst>
              <a:gd name="adj" fmla="val 5000"/>
            </a:avLst>
          </a:prstGeom>
          <a:solidFill>
            <a:srgbClr val="121F18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97112" y="2770632"/>
            <a:ext cx="457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A08B52"/>
                </a:solidFill>
                <a:latin typeface="Garamon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2798064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EDF4EE"/>
                </a:solidFill>
                <a:latin typeface="Calibri"/>
              </a:rPr>
              <a:t>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7112" y="3383280"/>
            <a:ext cx="2185416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EDF4EE"/>
                </a:solidFill>
                <a:latin typeface="Garamond"/>
              </a:rPr>
              <a:t>Track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7112" y="3913632"/>
            <a:ext cx="2185416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EA191"/>
                </a:solidFill>
                <a:latin typeface="Calibri"/>
              </a:rPr>
              <a:t>Mark arrivals and seating in real time from control centre.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55448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74980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A08B52"/>
                </a:solidFill>
                <a:latin typeface="Courier New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8229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200" b="1" i="0">
                <a:solidFill>
                  <a:srgbClr val="F1DDB0"/>
                </a:solidFill>
                <a:latin typeface="Garamond"/>
              </a:rPr>
              <a:t>Sign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38404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B4C4B7"/>
                </a:solidFill>
                <a:latin typeface="Calibri"/>
              </a:rPr>
              <a:t>Everyone gets their own secure login. Access is tailored to what your role needs.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33472"/>
            <a:ext cx="3108960" cy="3749039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798064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D6BB75"/>
                </a:solidFill>
                <a:latin typeface="Garamond"/>
              </a:rPr>
              <a:t>Pastors' Protocol Central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45536"/>
            <a:ext cx="29260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 i="0">
                <a:solidFill>
                  <a:srgbClr val="5A7060"/>
                </a:solidFill>
                <a:latin typeface="Courier New"/>
              </a:rPr>
              <a:t>DIGNITARY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" y="3456432"/>
            <a:ext cx="1426464" cy="320040"/>
          </a:xfrm>
          <a:prstGeom prst="roundRect">
            <a:avLst>
              <a:gd name="adj" fmla="val 5000"/>
            </a:avLst>
          </a:prstGeom>
          <a:solidFill>
            <a:srgbClr val="121F18"/>
          </a:solidFill>
          <a:ln w="6350">
            <a:solidFill>
              <a:srgbClr val="A08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3456432"/>
            <a:ext cx="1426464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D6BB75"/>
                </a:solidFill>
                <a:latin typeface="Calibri"/>
              </a:rPr>
              <a:t>Sign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3456432"/>
            <a:ext cx="1426464" cy="320040"/>
          </a:xfrm>
          <a:prstGeom prst="roundRect">
            <a:avLst>
              <a:gd name="adj" fmla="val 5000"/>
            </a:avLst>
          </a:prstGeom>
          <a:solidFill>
            <a:srgbClr val="040B07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3456432"/>
            <a:ext cx="1426464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5A7060"/>
                </a:solidFill>
                <a:latin typeface="Calibri"/>
              </a:rPr>
              <a:t>Register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" y="3931920"/>
            <a:ext cx="2852928" cy="420624"/>
          </a:xfrm>
          <a:prstGeom prst="roundRect">
            <a:avLst>
              <a:gd name="adj" fmla="val 5000"/>
            </a:avLst>
          </a:prstGeom>
          <a:solidFill>
            <a:srgbClr val="040B07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4005072"/>
            <a:ext cx="2596896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EA191"/>
                </a:solidFill>
                <a:latin typeface="Calibri"/>
              </a:rPr>
              <a:t>📧  email@church.org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" y="4480560"/>
            <a:ext cx="2852928" cy="420624"/>
          </a:xfrm>
          <a:prstGeom prst="roundRect">
            <a:avLst>
              <a:gd name="adj" fmla="val 5000"/>
            </a:avLst>
          </a:prstGeom>
          <a:solidFill>
            <a:srgbClr val="040B07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553712"/>
            <a:ext cx="2596896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EA191"/>
                </a:solidFill>
                <a:latin typeface="Calibri"/>
              </a:rPr>
              <a:t>🔒  ••••••••••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" y="5102352"/>
            <a:ext cx="2852928" cy="420624"/>
          </a:xfrm>
          <a:prstGeom prst="roundRect">
            <a:avLst>
              <a:gd name="adj" fmla="val 50000"/>
            </a:avLst>
          </a:prstGeom>
          <a:solidFill>
            <a:srgbClr val="D6B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10C"/>
                </a:solidFill>
                <a:latin typeface="Calibri"/>
              </a:rPr>
              <a:t>SIGN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650992"/>
            <a:ext cx="2926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5A7060"/>
                </a:solidFill>
                <a:latin typeface="Calibri"/>
              </a:rPr>
              <a:t>New users can register and will receive Protocol Member access.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2542032"/>
            <a:ext cx="7909560" cy="384048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2679192"/>
            <a:ext cx="7543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A08B52"/>
                </a:solidFill>
                <a:latin typeface="Courier New"/>
              </a:rPr>
              <a:t>WHO CAN DO WHAT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5072" y="3044952"/>
            <a:ext cx="1645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5A7060"/>
                </a:solidFill>
                <a:latin typeface="Courier New"/>
              </a:rPr>
              <a:t>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044952"/>
            <a:ext cx="1645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5A7060"/>
                </a:solidFill>
                <a:latin typeface="Courier New"/>
              </a:rPr>
              <a:t>CONFERENCES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3044952"/>
            <a:ext cx="1645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5A7060"/>
                </a:solidFill>
                <a:latin typeface="Courier New"/>
              </a:rPr>
              <a:t>ADD PASTORS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044952"/>
            <a:ext cx="1645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5A7060"/>
                </a:solidFill>
                <a:latin typeface="Courier New"/>
              </a:rPr>
              <a:t>EDIT SEATING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3044952"/>
            <a:ext cx="1645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5A7060"/>
                </a:solidFill>
                <a:latin typeface="Courier New"/>
              </a:rPr>
              <a:t>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5072" y="3346704"/>
            <a:ext cx="7580376" cy="12700"/>
          </a:xfrm>
          <a:prstGeom prst="rect">
            <a:avLst/>
          </a:prstGeom>
          <a:solidFill>
            <a:srgbClr val="1E3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913632" y="3401568"/>
            <a:ext cx="7763256" cy="822960"/>
          </a:xfrm>
          <a:prstGeom prst="roundRect">
            <a:avLst>
              <a:gd name="adj" fmla="val 5000"/>
            </a:avLst>
          </a:prstGeom>
          <a:solidFill>
            <a:srgbClr val="102218"/>
          </a:solidFill>
          <a:ln w="6350">
            <a:solidFill>
              <a:srgbClr val="1022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05072" y="3456432"/>
            <a:ext cx="18288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DF4EE"/>
                </a:solidFill>
                <a:latin typeface="Calibri"/>
              </a:rPr>
              <a:t>Administrator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5072" y="376732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A7060"/>
                </a:solidFill>
                <a:latin typeface="Calibri"/>
              </a:rPr>
              <a:t>Full system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3566160"/>
            <a:ext cx="1463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3566160"/>
            <a:ext cx="1463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566160"/>
            <a:ext cx="1463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3566160"/>
            <a:ext cx="1463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05072" y="4334256"/>
            <a:ext cx="18288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DF4EE"/>
                </a:solidFill>
                <a:latin typeface="Calibri"/>
              </a:rPr>
              <a:t>Editor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5072" y="4645152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A7060"/>
                </a:solidFill>
                <a:latin typeface="Calibri"/>
              </a:rPr>
              <a:t>Manages content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4443984"/>
            <a:ext cx="1463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0" y="4443984"/>
            <a:ext cx="1463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4443984"/>
            <a:ext cx="1463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4443984"/>
            <a:ext cx="1463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13632" y="5157216"/>
            <a:ext cx="7763256" cy="822960"/>
          </a:xfrm>
          <a:prstGeom prst="roundRect">
            <a:avLst>
              <a:gd name="adj" fmla="val 5000"/>
            </a:avLst>
          </a:prstGeom>
          <a:solidFill>
            <a:srgbClr val="102218"/>
          </a:solidFill>
          <a:ln w="6350">
            <a:solidFill>
              <a:srgbClr val="1022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05072" y="5212080"/>
            <a:ext cx="18288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DF4EE"/>
                </a:solidFill>
                <a:latin typeface="Calibri"/>
              </a:rPr>
              <a:t>Protocol Member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05072" y="5522976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A7060"/>
                </a:solidFill>
                <a:latin typeface="Calibri"/>
              </a:rPr>
              <a:t>View &amp; update status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5321808"/>
            <a:ext cx="1463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5A7060"/>
                </a:solidFill>
                <a:latin typeface="Calibr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0" y="5321808"/>
            <a:ext cx="1463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5A7060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5321808"/>
            <a:ext cx="1463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5A7060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98480" y="5321808"/>
            <a:ext cx="14630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55448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74980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A08B52"/>
                </a:solidFill>
                <a:latin typeface="Courier New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8229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 i="0">
                <a:solidFill>
                  <a:srgbClr val="F1DDB0"/>
                </a:solidFill>
                <a:latin typeface="Garamond"/>
              </a:rPr>
              <a:t>Conferences &amp; 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B4C4B7"/>
                </a:solidFill>
                <a:latin typeface="Calibri"/>
              </a:rPr>
              <a:t>Each church event is a Conference. Within it you create Sessions — one per service or day — each with its own independent seating plan.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51760"/>
            <a:ext cx="3840480" cy="169164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779776"/>
            <a:ext cx="3511296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5A7060"/>
                </a:solidFill>
                <a:latin typeface="Courier New"/>
              </a:rPr>
              <a:t>CONFERENCE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980944"/>
            <a:ext cx="3511296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EDF4EE"/>
                </a:solidFill>
                <a:latin typeface="Garamond"/>
              </a:rPr>
              <a:t>General Council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401568"/>
            <a:ext cx="3511296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A7060"/>
                </a:solidFill>
                <a:latin typeface="Calibri"/>
              </a:rPr>
              <a:t>12 Jun 2025 · 09:00 · National Auditorium, Accra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3803904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121F18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B4C4B7"/>
                </a:solidFill>
                <a:latin typeface="Calibri"/>
              </a:rPr>
              <a:t>GLT IFE Auditorium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651760"/>
            <a:ext cx="3840480" cy="169164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2" y="2779776"/>
            <a:ext cx="3511296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5A7060"/>
                </a:solidFill>
                <a:latin typeface="Courier New"/>
              </a:rPr>
              <a:t>CONFERENCE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2980944"/>
            <a:ext cx="3511296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EDF4EE"/>
                </a:solidFill>
                <a:latin typeface="Garamond"/>
              </a:rPr>
              <a:t>Camp Meeting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3401568"/>
            <a:ext cx="3511296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A7060"/>
                </a:solidFill>
                <a:latin typeface="Calibri"/>
              </a:rPr>
              <a:t>20 Aug 2025 · 18:00 · GLT Camp Ground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28032" y="3803904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121F18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B4C4B7"/>
                </a:solidFill>
                <a:latin typeface="Calibri"/>
              </a:rPr>
              <a:t>GLT Camp Auditorium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2651760"/>
            <a:ext cx="3474720" cy="352044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816352"/>
            <a:ext cx="314553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5A7060"/>
                </a:solidFill>
                <a:latin typeface="Courier New"/>
              </a:rPr>
              <a:t>SESSIONS — GENERAL COUNCIL 2025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3200400"/>
            <a:ext cx="3291840" cy="877824"/>
          </a:xfrm>
          <a:prstGeom prst="roundRect">
            <a:avLst>
              <a:gd name="adj" fmla="val 5000"/>
            </a:avLst>
          </a:prstGeom>
          <a:solidFill>
            <a:srgbClr val="102218"/>
          </a:solidFill>
          <a:ln w="6350">
            <a:solidFill>
              <a:srgbClr val="1022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50808" y="3310128"/>
            <a:ext cx="3072384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EDF4EE"/>
                </a:solidFill>
                <a:latin typeface="Garamond"/>
              </a:rPr>
              <a:t>Opening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0808" y="3657600"/>
            <a:ext cx="3072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A7060"/>
                </a:solidFill>
                <a:latin typeface="Calibri"/>
              </a:rPr>
              <a:t>12 Jun 2025 · 09:00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0808" y="4242816"/>
            <a:ext cx="3072384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EDF4EE"/>
                </a:solidFill>
                <a:latin typeface="Garamond"/>
              </a:rPr>
              <a:t>Afternoon 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4590288"/>
            <a:ext cx="3072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A7060"/>
                </a:solidFill>
                <a:latin typeface="Calibri"/>
              </a:rPr>
              <a:t>12 Jun 2025 · 14:00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5065776"/>
            <a:ext cx="3291840" cy="877824"/>
          </a:xfrm>
          <a:prstGeom prst="roundRect">
            <a:avLst>
              <a:gd name="adj" fmla="val 5000"/>
            </a:avLst>
          </a:prstGeom>
          <a:solidFill>
            <a:srgbClr val="102218"/>
          </a:solidFill>
          <a:ln w="6350">
            <a:solidFill>
              <a:srgbClr val="1022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50808" y="5175504"/>
            <a:ext cx="3072384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EDF4EE"/>
                </a:solidFill>
                <a:latin typeface="Garamond"/>
              </a:rPr>
              <a:t>Evening Gala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0808" y="5522976"/>
            <a:ext cx="3072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A7060"/>
                </a:solidFill>
                <a:latin typeface="Calibri"/>
              </a:rPr>
              <a:t>12 Jun 2025 · 18:30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144768"/>
            <a:ext cx="7772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A7060"/>
                </a:solidFill>
                <a:latin typeface="Calibri"/>
              </a:rPr>
              <a:t>💡 Each session keeps its own seating plan — great for conferences where pastors move between services.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55448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74980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A08B52"/>
                </a:solidFill>
                <a:latin typeface="Courier New"/>
              </a:rP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8229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200" b="1" i="0">
                <a:solidFill>
                  <a:srgbClr val="F1DDB0"/>
                </a:solidFill>
                <a:latin typeface="Garamond"/>
              </a:rPr>
              <a:t>Dignitary Directory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B4C4B7"/>
                </a:solidFill>
                <a:latin typeface="Calibri"/>
              </a:rPr>
              <a:t>Build a central directory of all pastors and dignitaries. Each record holds their photo, title, church, branch, and protocol notes. Add them once — reuse them across sessions forever.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51760"/>
            <a:ext cx="3520440" cy="1664208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2852928"/>
            <a:ext cx="548640" cy="548640"/>
          </a:xfrm>
          <a:prstGeom prst="ellipse">
            <a:avLst/>
          </a:prstGeom>
          <a:solidFill>
            <a:srgbClr val="321C0F"/>
          </a:solidFill>
          <a:ln w="12700">
            <a:solidFill>
              <a:srgbClr val="C97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871216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EDF4EE"/>
                </a:solidFill>
                <a:latin typeface="Garamond"/>
              </a:rPr>
              <a:t>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816352"/>
            <a:ext cx="25146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DF4EE"/>
                </a:solidFill>
                <a:latin typeface="Calibri"/>
              </a:rPr>
              <a:t>Archbishop Mensah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3127248"/>
            <a:ext cx="2514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EA191"/>
                </a:solidFill>
                <a:latin typeface="Calibri"/>
              </a:rPr>
              <a:t>General Overseer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529584"/>
            <a:ext cx="319125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A7060"/>
                </a:solidFill>
                <a:latin typeface="Calibri"/>
              </a:rPr>
              <a:t>GLT International · HQ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" y="3895344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121F18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D6BB75"/>
                </a:solidFill>
                <a:latin typeface="Calibri"/>
              </a:rPr>
              <a:t>Photo 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651760"/>
            <a:ext cx="3520440" cy="1664208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16552" y="2852928"/>
            <a:ext cx="548640" cy="548640"/>
          </a:xfrm>
          <a:prstGeom prst="ellipse">
            <a:avLst/>
          </a:prstGeom>
          <a:solidFill>
            <a:srgbClr val="101E2D"/>
          </a:solidFill>
          <a:ln w="12700">
            <a:solidFill>
              <a:srgbClr val="427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2871216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EDF4EE"/>
                </a:solidFill>
                <a:latin typeface="Garamond"/>
              </a:rPr>
              <a:t>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8" y="2816352"/>
            <a:ext cx="25146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DF4EE"/>
                </a:solidFill>
                <a:latin typeface="Calibri"/>
              </a:rPr>
              <a:t>Pastor Oti-Boateng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3127248"/>
            <a:ext cx="2514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EA191"/>
                </a:solidFill>
                <a:latin typeface="Calibri"/>
              </a:rPr>
              <a:t>Senior Pastor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3529584"/>
            <a:ext cx="319125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A7060"/>
                </a:solidFill>
                <a:latin typeface="Calibri"/>
              </a:rPr>
              <a:t>GLT IFE · North Campus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6552" y="3895344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121F18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B4C4B7"/>
                </a:solidFill>
                <a:latin typeface="Calibri"/>
              </a:rPr>
              <a:t>Notes added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651760"/>
            <a:ext cx="3520440" cy="1664208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65592" y="2852928"/>
            <a:ext cx="548640" cy="548640"/>
          </a:xfrm>
          <a:prstGeom prst="ellipse">
            <a:avLst/>
          </a:prstGeom>
          <a:solidFill>
            <a:srgbClr val="102819"/>
          </a:solidFill>
          <a:ln w="12700">
            <a:solidFill>
              <a:srgbClr val="42A3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2871216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EDF4EE"/>
                </a:solidFill>
                <a:latin typeface="Garamond"/>
              </a:rPr>
              <a:t>BK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2248" y="2816352"/>
            <a:ext cx="25146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DF4EE"/>
                </a:solidFill>
                <a:latin typeface="Calibri"/>
              </a:rPr>
              <a:t>Bishop Kwarteng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2248" y="3127248"/>
            <a:ext cx="2514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EA191"/>
                </a:solidFill>
                <a:latin typeface="Calibri"/>
              </a:rPr>
              <a:t>District Bishop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5592" y="3529584"/>
            <a:ext cx="319125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A7060"/>
                </a:solidFill>
                <a:latin typeface="Calibri"/>
              </a:rPr>
              <a:t>GLT International · East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3895344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121F18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D6BB75"/>
                </a:solidFill>
                <a:latin typeface="Calibri"/>
              </a:rPr>
              <a:t>Photo 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498848"/>
            <a:ext cx="3520440" cy="1664208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7512" y="4700016"/>
            <a:ext cx="548640" cy="548640"/>
          </a:xfrm>
          <a:prstGeom prst="ellipse">
            <a:avLst/>
          </a:prstGeom>
          <a:solidFill>
            <a:srgbClr val="281010"/>
          </a:solidFill>
          <a:ln w="12700">
            <a:solidFill>
              <a:srgbClr val="A34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4718304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EDF4EE"/>
                </a:solidFill>
                <a:latin typeface="Garamond"/>
              </a:rPr>
              <a:t>PA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4168" y="4663440"/>
            <a:ext cx="25146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DF4EE"/>
                </a:solidFill>
                <a:latin typeface="Calibri"/>
              </a:rPr>
              <a:t>Pastor Asamoah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4974336"/>
            <a:ext cx="2514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EA191"/>
                </a:solidFill>
                <a:latin typeface="Calibri"/>
              </a:rPr>
              <a:t>Associate Pastor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5376672"/>
            <a:ext cx="319125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A7060"/>
                </a:solidFill>
                <a:latin typeface="Calibri"/>
              </a:rPr>
              <a:t>GLT International · West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51960" y="4498848"/>
            <a:ext cx="3520440" cy="1664208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416552" y="4700016"/>
            <a:ext cx="548640" cy="548640"/>
          </a:xfrm>
          <a:prstGeom prst="ellipse">
            <a:avLst/>
          </a:prstGeom>
          <a:solidFill>
            <a:srgbClr val="1E1028"/>
          </a:solidFill>
          <a:ln w="12700">
            <a:solidFill>
              <a:srgbClr val="7842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16552" y="4718304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EDF4EE"/>
                </a:solidFill>
                <a:latin typeface="Garamond"/>
              </a:rPr>
              <a:t>HE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93208" y="4663440"/>
            <a:ext cx="25146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DF4EE"/>
                </a:solidFill>
                <a:latin typeface="Calibri"/>
              </a:rPr>
              <a:t>H.E. Rev. Egyir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93208" y="4974336"/>
            <a:ext cx="2514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EA191"/>
                </a:solidFill>
                <a:latin typeface="Calibri"/>
              </a:rPr>
              <a:t>Presiding Bishop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16552" y="5376672"/>
            <a:ext cx="319125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A7060"/>
                </a:solidFill>
                <a:latin typeface="Calibri"/>
              </a:rPr>
              <a:t>GLT Camp · Director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16552" y="5742432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121F18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B4C4B7"/>
                </a:solidFill>
                <a:latin typeface="Calibri"/>
              </a:rPr>
              <a:t>Notes added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01000" y="4498848"/>
            <a:ext cx="3520440" cy="1664208"/>
          </a:xfrm>
          <a:prstGeom prst="roundRect">
            <a:avLst>
              <a:gd name="adj" fmla="val 6000"/>
            </a:avLst>
          </a:prstGeom>
          <a:solidFill>
            <a:srgbClr val="040B07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01000" y="5138928"/>
            <a:ext cx="3520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5A7060"/>
                </a:solidFill>
                <a:latin typeface="Calibri"/>
              </a:rPr>
              <a:t>+ Add New Dignitary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55448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74980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A08B52"/>
                </a:solidFill>
                <a:latin typeface="Courier New"/>
              </a:rP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8229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 i="0">
                <a:solidFill>
                  <a:srgbClr val="F1DDB0"/>
                </a:solidFill>
                <a:latin typeface="Garamond"/>
              </a:rPr>
              <a:t>Interactive Seating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8229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B4C4B7"/>
                </a:solidFill>
                <a:latin typeface="Calibri"/>
              </a:rPr>
              <a:t>Click any section on the visual floor plan to open its seat grid. Click an empty seat to assign a dignitary — or click an occupied seat to view their profile.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0604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770632"/>
            <a:ext cx="4700016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5A7060"/>
                </a:solidFill>
                <a:latin typeface="Courier New"/>
              </a:rPr>
              <a:t>AUDITORIUM FLOOR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20" y="3118104"/>
            <a:ext cx="2103120" cy="566928"/>
          </a:xfrm>
          <a:prstGeom prst="roundRect">
            <a:avLst>
              <a:gd name="adj" fmla="val 8000"/>
            </a:avLst>
          </a:prstGeom>
          <a:solidFill>
            <a:srgbClr val="145222"/>
          </a:solidFill>
          <a:ln w="1016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22C55E"/>
                </a:solidFill>
                <a:latin typeface="Calibri"/>
              </a:rPr>
              <a:t>ALTAR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39" y="3794760"/>
            <a:ext cx="1097280" cy="457200"/>
          </a:xfrm>
          <a:prstGeom prst="roundRect">
            <a:avLst>
              <a:gd name="adj" fmla="val 8000"/>
            </a:avLst>
          </a:prstGeom>
          <a:solidFill>
            <a:srgbClr val="2A1845"/>
          </a:solidFill>
          <a:ln w="1016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C4B5FD"/>
                </a:solidFill>
                <a:latin typeface="Calibri"/>
              </a:rPr>
              <a:t>VVIP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4434840"/>
            <a:ext cx="885139" cy="1005840"/>
          </a:xfrm>
          <a:prstGeom prst="roundRect">
            <a:avLst>
              <a:gd name="adj" fmla="val 8000"/>
            </a:avLst>
          </a:prstGeom>
          <a:solidFill>
            <a:srgbClr val="402010"/>
          </a:solidFill>
          <a:ln w="1016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B923C"/>
                </a:solidFill>
                <a:latin typeface="Calibri"/>
              </a:rPr>
              <a:t>CHOIR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07515" y="4434840"/>
            <a:ext cx="885139" cy="1005840"/>
          </a:xfrm>
          <a:prstGeom prst="roundRect">
            <a:avLst>
              <a:gd name="adj" fmla="val 8000"/>
            </a:avLst>
          </a:prstGeom>
          <a:solidFill>
            <a:srgbClr val="400A0A"/>
          </a:solidFill>
          <a:ln w="1016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CA5A5"/>
                </a:solidFill>
                <a:latin typeface="Calibri"/>
              </a:rPr>
              <a:t>LEFT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47518" y="4434840"/>
            <a:ext cx="885139" cy="1005840"/>
          </a:xfrm>
          <a:prstGeom prst="roundRect">
            <a:avLst>
              <a:gd name="adj" fmla="val 8000"/>
            </a:avLst>
          </a:prstGeom>
          <a:solidFill>
            <a:srgbClr val="0A183C"/>
          </a:solidFill>
          <a:ln w="1016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60A5FA"/>
                </a:solidFill>
                <a:latin typeface="Calibri"/>
              </a:rPr>
              <a:t>MIDDLE 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7521" y="4434840"/>
            <a:ext cx="885139" cy="1005840"/>
          </a:xfrm>
          <a:prstGeom prst="roundRect">
            <a:avLst>
              <a:gd name="adj" fmla="val 8000"/>
            </a:avLst>
          </a:prstGeom>
          <a:solidFill>
            <a:srgbClr val="382A06"/>
          </a:solidFill>
          <a:ln w="10160">
            <a:solidFill>
              <a:srgbClr val="FDE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DE047"/>
                </a:solidFill>
                <a:latin typeface="Calibri"/>
              </a:rPr>
              <a:t>RIGHT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7524" y="4434840"/>
            <a:ext cx="885139" cy="1005840"/>
          </a:xfrm>
          <a:prstGeom prst="roundRect">
            <a:avLst>
              <a:gd name="adj" fmla="val 8000"/>
            </a:avLst>
          </a:prstGeom>
          <a:solidFill>
            <a:srgbClr val="1A222A"/>
          </a:solidFill>
          <a:ln w="1016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MINISTER (Closed)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6117336"/>
            <a:ext cx="10972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5A7060"/>
                </a:solidFill>
                <a:latin typeface="Courier New"/>
              </a:rPr>
              <a:t>ENTRANCE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6117336"/>
            <a:ext cx="10972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5A7060"/>
                </a:solidFill>
                <a:latin typeface="Courier New"/>
              </a:rPr>
              <a:t>ENTRANCE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2606040"/>
            <a:ext cx="6126480" cy="384048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1032" y="2770632"/>
            <a:ext cx="5797296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F4EE"/>
                </a:solidFill>
                <a:latin typeface="Garamond"/>
              </a:rPr>
              <a:t>Middle Section   (4 rows × 6 seats)</a:t>
            </a:r>
          </a:p>
        </p:txBody>
      </p:sp>
      <p:sp>
        <p:nvSpPr>
          <p:cNvPr id="19" name="Oval 18"/>
          <p:cNvSpPr/>
          <p:nvPr/>
        </p:nvSpPr>
        <p:spPr>
          <a:xfrm>
            <a:off x="5971032" y="3209544"/>
            <a:ext cx="118872" cy="118872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4" y="3154680"/>
            <a:ext cx="1188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8EA191"/>
                </a:solidFill>
                <a:latin typeface="Calibri"/>
              </a:rPr>
              <a:t>Pending</a:t>
            </a:r>
          </a:p>
        </p:txBody>
      </p:sp>
      <p:sp>
        <p:nvSpPr>
          <p:cNvPr id="21" name="Oval 20"/>
          <p:cNvSpPr/>
          <p:nvPr/>
        </p:nvSpPr>
        <p:spPr>
          <a:xfrm>
            <a:off x="7388352" y="3209544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2944" y="3154680"/>
            <a:ext cx="1188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8EA191"/>
                </a:solidFill>
                <a:latin typeface="Calibri"/>
              </a:rPr>
              <a:t>Arrived</a:t>
            </a:r>
          </a:p>
        </p:txBody>
      </p:sp>
      <p:sp>
        <p:nvSpPr>
          <p:cNvPr id="23" name="Oval 22"/>
          <p:cNvSpPr/>
          <p:nvPr/>
        </p:nvSpPr>
        <p:spPr>
          <a:xfrm>
            <a:off x="8805672" y="3209544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0264" y="3154680"/>
            <a:ext cx="1188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8EA191"/>
                </a:solidFill>
                <a:latin typeface="Calibri"/>
              </a:rPr>
              <a:t>Seated</a:t>
            </a:r>
          </a:p>
        </p:txBody>
      </p:sp>
      <p:sp>
        <p:nvSpPr>
          <p:cNvPr id="25" name="Oval 24"/>
          <p:cNvSpPr/>
          <p:nvPr/>
        </p:nvSpPr>
        <p:spPr>
          <a:xfrm>
            <a:off x="10222992" y="3209544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87584" y="3154680"/>
            <a:ext cx="11887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8EA191"/>
                </a:solidFill>
                <a:latin typeface="Calibri"/>
              </a:rPr>
              <a:t>Absent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07608" y="3502152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052916"/>
          </a:solidFill>
          <a:ln w="762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22C55E"/>
                </a:solidFill>
                <a:latin typeface="Calibri"/>
              </a:rPr>
              <a:t>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36792" y="3502152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351A03"/>
          </a:solidFill>
          <a:ln w="76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F59E0B"/>
                </a:solidFill>
                <a:latin typeface="Calibri"/>
              </a:rPr>
              <a:t>PO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65976" y="3502152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762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94A3B8"/>
                </a:solidFill>
                <a:latin typeface="Calibri"/>
              </a:rPr>
              <a:t>BK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0" y="3502152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040B07"/>
          </a:solidFill>
          <a:ln w="508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24344" y="3502152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040B07"/>
          </a:solidFill>
          <a:ln w="508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653528" y="3502152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052916"/>
          </a:solidFill>
          <a:ln w="762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22C55E"/>
                </a:solidFill>
                <a:latin typeface="Calibri"/>
              </a:rPr>
              <a:t>PA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07608" y="3831336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351A03"/>
          </a:solidFill>
          <a:ln w="76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F59E0B"/>
                </a:solidFill>
                <a:latin typeface="Calibri"/>
              </a:rPr>
              <a:t>HE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36792" y="3831336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040B07"/>
          </a:solidFill>
          <a:ln w="508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65976" y="3831336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040B07"/>
          </a:solidFill>
          <a:ln w="508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995160" y="3831336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762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94A3B8"/>
                </a:solidFill>
                <a:latin typeface="Calibri"/>
              </a:rPr>
              <a:t>RA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24344" y="3831336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040B07"/>
          </a:solidFill>
          <a:ln w="508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53528" y="3831336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040B07"/>
          </a:solidFill>
          <a:ln w="508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007608" y="4160520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040B07"/>
          </a:solidFill>
          <a:ln w="508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36792" y="4160520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040B07"/>
          </a:solidFill>
          <a:ln w="508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665976" y="4160520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052916"/>
          </a:solidFill>
          <a:ln w="762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22C55E"/>
                </a:solidFill>
                <a:latin typeface="Calibri"/>
              </a:rPr>
              <a:t>YA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95160" y="4160520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040B07"/>
          </a:solidFill>
          <a:ln w="508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324344" y="4160520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351A03"/>
          </a:solidFill>
          <a:ln w="76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F59E0B"/>
                </a:solidFill>
                <a:latin typeface="Calibri"/>
              </a:rPr>
              <a:t>NK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53528" y="4160520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040B07"/>
          </a:solidFill>
          <a:ln w="508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007608" y="4489704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040B07"/>
          </a:solidFill>
          <a:ln w="508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36792" y="4489704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040B07"/>
          </a:solidFill>
          <a:ln w="508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665976" y="4489704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040B07"/>
          </a:solidFill>
          <a:ln w="508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995160" y="4489704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040B07"/>
          </a:solidFill>
          <a:ln w="508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324344" y="4489704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040B07"/>
          </a:solidFill>
          <a:ln w="508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653528" y="4489704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040B07"/>
          </a:solidFill>
          <a:ln w="508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71032" y="6080760"/>
            <a:ext cx="5797296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A7060"/>
                </a:solidFill>
                <a:latin typeface="Calibri"/>
              </a:rPr>
              <a:t>Click an empty seat to assign · Click a filled seat to view profile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55448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74980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A08B52"/>
                </a:solidFill>
                <a:latin typeface="Courier New"/>
              </a:rPr>
              <a:t>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8229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 i="0">
                <a:solidFill>
                  <a:srgbClr val="F1DDB0"/>
                </a:solidFill>
                <a:latin typeface="Garamond"/>
              </a:rPr>
              <a:t>Live Attendance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8229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B4C4B7"/>
                </a:solidFill>
                <a:latin typeface="Calibri"/>
              </a:rPr>
              <a:t>As the service begins, protocol officers update each dignitary's status with one tap. Every change is instantly visible to the whole team.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596896"/>
            <a:ext cx="1463040" cy="77724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642616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EDF4EE"/>
                </a:solidFill>
                <a:latin typeface="Garamo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3580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 i="0">
                <a:solidFill>
                  <a:srgbClr val="5A7060"/>
                </a:solidFill>
                <a:latin typeface="Courier New"/>
              </a:rPr>
              <a:t>IN SESSION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596896"/>
            <a:ext cx="1463040" cy="77724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642616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94A3B8"/>
                </a:solidFill>
                <a:latin typeface="Garamond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03580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 i="0">
                <a:solidFill>
                  <a:srgbClr val="5A7060"/>
                </a:solidFill>
                <a:latin typeface="Courier New"/>
              </a:rPr>
              <a:t>PENDING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596896"/>
            <a:ext cx="1463040" cy="77724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2642616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59E0B"/>
                </a:solidFill>
                <a:latin typeface="Garamond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03580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 i="0">
                <a:solidFill>
                  <a:srgbClr val="5A7060"/>
                </a:solidFill>
                <a:latin typeface="Courier New"/>
              </a:rPr>
              <a:t>ARRIVED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2596896"/>
            <a:ext cx="1463040" cy="77724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2642616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22C55E"/>
                </a:solidFill>
                <a:latin typeface="Garamond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03580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 i="0">
                <a:solidFill>
                  <a:srgbClr val="5A7060"/>
                </a:solidFill>
                <a:latin typeface="Courier New"/>
              </a:rPr>
              <a:t>SEATED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2596896"/>
            <a:ext cx="1463040" cy="77724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2642616"/>
            <a:ext cx="14630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EF4444"/>
                </a:solidFill>
                <a:latin typeface="Garamond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03580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 i="0">
                <a:solidFill>
                  <a:srgbClr val="5A7060"/>
                </a:solidFill>
                <a:latin typeface="Courier New"/>
              </a:rPr>
              <a:t>ABSENT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47872"/>
            <a:ext cx="11201400" cy="841248"/>
          </a:xfrm>
          <a:prstGeom prst="roundRect">
            <a:avLst>
              <a:gd name="adj" fmla="val 5000"/>
            </a:avLst>
          </a:prstGeom>
          <a:solidFill>
            <a:srgbClr val="102218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3730752"/>
            <a:ext cx="548640" cy="548640"/>
          </a:xfrm>
          <a:prstGeom prst="ellipse">
            <a:avLst/>
          </a:prstGeom>
          <a:solidFill>
            <a:srgbClr val="142218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730752"/>
            <a:ext cx="5486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EDF4EE"/>
                </a:solidFill>
                <a:latin typeface="Garamond"/>
              </a:rPr>
              <a:t>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639312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DF4EE"/>
                </a:solidFill>
                <a:latin typeface="Calibri"/>
              </a:rPr>
              <a:t>Archbishop Mensah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986784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8EA191"/>
                </a:solidFill>
                <a:latin typeface="Calibri"/>
              </a:rPr>
              <a:t>General Overseer · GLT International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3840480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0A160E"/>
          </a:solidFill>
          <a:ln w="63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22C55E"/>
                </a:solidFill>
                <a:latin typeface="Calibri"/>
              </a:rPr>
              <a:t>● Seated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3840480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061022"/>
          </a:solidFill>
          <a:ln w="63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60A5FA"/>
                </a:solidFill>
                <a:latin typeface="Calibri"/>
              </a:rPr>
              <a:t>Middle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384048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A7060"/>
                </a:solidFill>
                <a:latin typeface="Courier New"/>
              </a:rPr>
              <a:t>R1 / S1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443984"/>
            <a:ext cx="11201400" cy="841248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4626864"/>
            <a:ext cx="548640" cy="548640"/>
          </a:xfrm>
          <a:prstGeom prst="ellipse">
            <a:avLst/>
          </a:prstGeom>
          <a:solidFill>
            <a:srgbClr val="142218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626864"/>
            <a:ext cx="5486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EDF4EE"/>
                </a:solidFill>
                <a:latin typeface="Garamond"/>
              </a:rPr>
              <a:t>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535424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DF4EE"/>
                </a:solidFill>
                <a:latin typeface="Calibri"/>
              </a:rPr>
              <a:t>Pastor Oti-Boateng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882896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8EA191"/>
                </a:solidFill>
                <a:latin typeface="Calibri"/>
              </a:rPr>
              <a:t>Senior Pastor · GLT IFE North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0" y="4736592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0A160E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59E0B"/>
                </a:solidFill>
                <a:latin typeface="Calibri"/>
              </a:rPr>
              <a:t>● Arrived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4736592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061022"/>
          </a:solidFill>
          <a:ln w="63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60A5FA"/>
                </a:solidFill>
                <a:latin typeface="Calibri"/>
              </a:rPr>
              <a:t>Middle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473659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A7060"/>
                </a:solidFill>
                <a:latin typeface="Courier New"/>
              </a:rPr>
              <a:t>R1 / S2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340096"/>
            <a:ext cx="11201400" cy="841248"/>
          </a:xfrm>
          <a:prstGeom prst="roundRect">
            <a:avLst>
              <a:gd name="adj" fmla="val 5000"/>
            </a:avLst>
          </a:prstGeom>
          <a:solidFill>
            <a:srgbClr val="102218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5800" y="5522976"/>
            <a:ext cx="548640" cy="548640"/>
          </a:xfrm>
          <a:prstGeom prst="ellipse">
            <a:avLst/>
          </a:prstGeom>
          <a:solidFill>
            <a:srgbClr val="142218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522976"/>
            <a:ext cx="548640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EDF4EE"/>
                </a:solidFill>
                <a:latin typeface="Garamond"/>
              </a:rPr>
              <a:t>HE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5431536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DF4EE"/>
                </a:solidFill>
                <a:latin typeface="Calibri"/>
              </a:rPr>
              <a:t>H.E. Rev. Egyir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77900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8EA191"/>
                </a:solidFill>
                <a:latin typeface="Calibri"/>
              </a:rPr>
              <a:t>Presiding Bishop · GLT Camp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0" y="5632704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0A160E"/>
          </a:solidFill>
          <a:ln w="63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EF4444"/>
                </a:solidFill>
                <a:latin typeface="Calibri"/>
              </a:rPr>
              <a:t>● Absent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37960" y="5632704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061022"/>
          </a:solidFill>
          <a:ln w="635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CA5A5"/>
                </a:solidFill>
                <a:latin typeface="Calibri"/>
              </a:rPr>
              <a:t>Left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5632704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A7060"/>
                </a:solidFill>
                <a:latin typeface="Courier New"/>
              </a:rPr>
              <a:t>R2 / S1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55448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74980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A08B52"/>
                </a:solidFill>
                <a:latin typeface="Courier New"/>
              </a:rPr>
              <a:t>STEP 6 · LIVE CONFERENCE COMMAND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8229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200" b="1" i="0">
                <a:solidFill>
                  <a:srgbClr val="F1DDB0"/>
                </a:solidFill>
                <a:latin typeface="Garamond"/>
              </a:rPr>
              <a:t>Control Centre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B4C4B7"/>
                </a:solidFill>
                <a:latin typeface="Calibri"/>
              </a:rPr>
              <a:t>The operations hub — attendance metrics, live alerts, activity feed, and seating coverage for the entire conference on one screen.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578608"/>
            <a:ext cx="2148840" cy="100584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2706624"/>
            <a:ext cx="457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EDF4EE"/>
                </a:solidFill>
                <a:latin typeface="Calibri"/>
              </a:rPr>
              <a:t>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2688336"/>
            <a:ext cx="1435608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EDF4EE"/>
                </a:solidFill>
                <a:latin typeface="Garamond"/>
              </a:rPr>
              <a:t>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3236976"/>
            <a:ext cx="189280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5A7060"/>
                </a:solidFill>
                <a:latin typeface="Courier New"/>
              </a:rPr>
              <a:t>EXPECTED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9776" y="2578608"/>
            <a:ext cx="2148840" cy="100584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2706624"/>
            <a:ext cx="457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EDF4EE"/>
                </a:solidFill>
                <a:latin typeface="Calibri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2688336"/>
            <a:ext cx="1435608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59E0B"/>
                </a:solidFill>
                <a:latin typeface="Garamond"/>
              </a:rPr>
              <a:t>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3236976"/>
            <a:ext cx="189280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5A7060"/>
                </a:solidFill>
                <a:latin typeface="Courier New"/>
              </a:rPr>
              <a:t>ARRIVED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6632" y="2578608"/>
            <a:ext cx="2148840" cy="100584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4648" y="2706624"/>
            <a:ext cx="457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EDF4EE"/>
                </a:solidFill>
                <a:latin typeface="Calibri"/>
              </a:rPr>
              <a:t>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41848" y="2688336"/>
            <a:ext cx="1435608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22C55E"/>
                </a:solidFill>
                <a:latin typeface="Garamond"/>
              </a:rPr>
              <a:t>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4648" y="3236976"/>
            <a:ext cx="189280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5A7060"/>
                </a:solidFill>
                <a:latin typeface="Courier New"/>
              </a:rPr>
              <a:t>SEATED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33488" y="2578608"/>
            <a:ext cx="2148840" cy="100584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1504" y="2706624"/>
            <a:ext cx="457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EDF4EE"/>
                </a:solidFill>
                <a:latin typeface="Calibri"/>
              </a:rPr>
              <a:t>🛡️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8704" y="2688336"/>
            <a:ext cx="1435608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D6BB75"/>
                </a:solidFill>
                <a:latin typeface="Garamond"/>
              </a:rPr>
              <a:t>88%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1504" y="3236976"/>
            <a:ext cx="189280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5A7060"/>
                </a:solidFill>
                <a:latin typeface="Courier New"/>
              </a:rPr>
              <a:t>PROTOCOL COVERAGE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10344" y="2578608"/>
            <a:ext cx="2148840" cy="100584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2706624"/>
            <a:ext cx="457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EDF4EE"/>
                </a:solidFill>
                <a:latin typeface="Calibri"/>
              </a:rPr>
              <a:t>⚠️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2688336"/>
            <a:ext cx="1435608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EF4444"/>
                </a:solidFill>
                <a:latin typeface="Garamon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3236976"/>
            <a:ext cx="189280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5A7060"/>
                </a:solidFill>
                <a:latin typeface="Courier New"/>
              </a:rPr>
              <a:t>NEEDS ATTENTION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730752"/>
            <a:ext cx="3749039" cy="246888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3858768"/>
            <a:ext cx="3419855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F4EE"/>
                </a:solidFill>
                <a:latin typeface="Garamond"/>
              </a:rPr>
              <a:t>Attention Needed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4187952"/>
            <a:ext cx="341985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8EA191"/>
                </a:solidFill>
                <a:latin typeface="Calibri"/>
              </a:rPr>
              <a:t>Conflicts, gaps, and coverage risks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" y="4553712"/>
            <a:ext cx="3419855" cy="640080"/>
          </a:xfrm>
          <a:prstGeom prst="roundRect">
            <a:avLst>
              <a:gd name="adj" fmla="val 5000"/>
            </a:avLst>
          </a:prstGeom>
          <a:solidFill>
            <a:srgbClr val="180606"/>
          </a:solidFill>
          <a:ln w="63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4608576"/>
            <a:ext cx="3236975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EF4444"/>
                </a:solidFill>
                <a:latin typeface="Courier New"/>
              </a:rPr>
              <a:t>CRITICAL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4791456"/>
            <a:ext cx="3236975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EDF4EE"/>
                </a:solidFill>
                <a:latin typeface="Calibri"/>
              </a:rPr>
              <a:t>Seat Conflict — Middle R1 S3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4974336"/>
            <a:ext cx="3236975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8EA191"/>
                </a:solidFill>
                <a:latin typeface="Calibri"/>
              </a:rPr>
              <a:t>Two dignitaries assigned to same seat.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" y="5303520"/>
            <a:ext cx="3419855" cy="640080"/>
          </a:xfrm>
          <a:prstGeom prst="roundRect">
            <a:avLst>
              <a:gd name="adj" fmla="val 5000"/>
            </a:avLst>
          </a:prstGeom>
          <a:solidFill>
            <a:srgbClr val="181406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5358384"/>
            <a:ext cx="3236975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F59E0B"/>
                </a:solidFill>
                <a:latin typeface="Courier New"/>
              </a:rPr>
              <a:t>WATCH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5541264"/>
            <a:ext cx="3236975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EDF4EE"/>
                </a:solidFill>
                <a:latin typeface="Calibri"/>
              </a:rPr>
              <a:t>H.E. Rev. Egyir — Pending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5724144"/>
            <a:ext cx="3236975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8EA191"/>
                </a:solidFill>
                <a:latin typeface="Calibri"/>
              </a:rPr>
              <a:t>Service started 20 mins ago. No arrival.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71415" y="3730752"/>
            <a:ext cx="3749039" cy="246888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36007" y="3858768"/>
            <a:ext cx="3419855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F4EE"/>
                </a:solidFill>
                <a:latin typeface="Garamond"/>
              </a:rPr>
              <a:t>Live Activity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36007" y="4187952"/>
            <a:ext cx="341985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8EA191"/>
                </a:solidFill>
                <a:latin typeface="Calibri"/>
              </a:rPr>
              <a:t>Latest movements across the event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36007" y="4553712"/>
            <a:ext cx="329184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EDF4EE"/>
                </a:solidFill>
                <a:latin typeface="Calibri"/>
              </a:rPr>
              <a:t>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0055" y="4553712"/>
            <a:ext cx="3035807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EDF4EE"/>
                </a:solidFill>
                <a:latin typeface="Calibri"/>
              </a:rPr>
              <a:t>Archbishop Mensah — Seated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0055" y="4791456"/>
            <a:ext cx="303580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A7060"/>
                </a:solidFill>
                <a:latin typeface="Calibri"/>
              </a:rPr>
              <a:t>09:14 · Middle Section R1/S1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6007" y="5065776"/>
            <a:ext cx="329184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EDF4EE"/>
                </a:solidFill>
                <a:latin typeface="Calibri"/>
              </a:rPr>
              <a:t>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0055" y="5065776"/>
            <a:ext cx="3035807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EDF4EE"/>
                </a:solidFill>
                <a:latin typeface="Calibri"/>
              </a:rPr>
              <a:t>Pastor Oti-Boateng — Arrived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0055" y="5303520"/>
            <a:ext cx="303580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A7060"/>
                </a:solidFill>
                <a:latin typeface="Calibri"/>
              </a:rPr>
              <a:t>09:08 · Checked 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36007" y="5577840"/>
            <a:ext cx="329184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EDF4EE"/>
                </a:solidFill>
                <a:latin typeface="Calibri"/>
              </a:rPr>
              <a:t>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0055" y="5577840"/>
            <a:ext cx="3035807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EDF4EE"/>
                </a:solidFill>
                <a:latin typeface="Calibri"/>
              </a:rPr>
              <a:t>Bishop Kwarteng — Seated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0055" y="5815584"/>
            <a:ext cx="303580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A7060"/>
                </a:solidFill>
                <a:latin typeface="Calibri"/>
              </a:rPr>
              <a:t>09:03 · Left Section R1/S2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39910" y="3730752"/>
            <a:ext cx="3749039" cy="246888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04502" y="3858768"/>
            <a:ext cx="3419855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F4EE"/>
                </a:solidFill>
                <a:latin typeface="Garamond"/>
              </a:rPr>
              <a:t>Session Seating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04502" y="4187952"/>
            <a:ext cx="341985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8EA191"/>
                </a:solidFill>
                <a:latin typeface="Calibri"/>
              </a:rPr>
              <a:t>Section occupancy at a glance</a:t>
            </a:r>
          </a:p>
        </p:txBody>
      </p:sp>
      <p:sp>
        <p:nvSpPr>
          <p:cNvPr id="52" name="Oval 51"/>
          <p:cNvSpPr/>
          <p:nvPr/>
        </p:nvSpPr>
        <p:spPr>
          <a:xfrm>
            <a:off x="8622790" y="4626864"/>
            <a:ext cx="118872" cy="118872"/>
          </a:xfrm>
          <a:prstGeom prst="ellipse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05670" y="4553712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8EA191"/>
                </a:solidFill>
                <a:latin typeface="Calibri"/>
              </a:rPr>
              <a:t>Left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28630" y="4626864"/>
            <a:ext cx="2240279" cy="59436"/>
          </a:xfrm>
          <a:prstGeom prst="rect">
            <a:avLst/>
          </a:prstGeom>
          <a:solidFill>
            <a:srgbClr val="1E3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628630" y="4626864"/>
            <a:ext cx="2016251" cy="59436"/>
          </a:xfrm>
          <a:prstGeom prst="rect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695173" y="4553712"/>
            <a:ext cx="42062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8EA191"/>
                </a:solidFill>
                <a:latin typeface="Courier New"/>
              </a:rPr>
              <a:t>90%</a:t>
            </a:r>
          </a:p>
        </p:txBody>
      </p:sp>
      <p:sp>
        <p:nvSpPr>
          <p:cNvPr id="57" name="Oval 56"/>
          <p:cNvSpPr/>
          <p:nvPr/>
        </p:nvSpPr>
        <p:spPr>
          <a:xfrm>
            <a:off x="8622790" y="5138928"/>
            <a:ext cx="118872" cy="11887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05670" y="5065776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8EA191"/>
                </a:solidFill>
                <a:latin typeface="Calibri"/>
              </a:rPr>
              <a:t>Middle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28630" y="5138928"/>
            <a:ext cx="2240279" cy="59436"/>
          </a:xfrm>
          <a:prstGeom prst="rect">
            <a:avLst/>
          </a:prstGeom>
          <a:solidFill>
            <a:srgbClr val="1E3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628630" y="5138928"/>
            <a:ext cx="1590598" cy="5943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695173" y="5065776"/>
            <a:ext cx="42062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8EA191"/>
                </a:solidFill>
                <a:latin typeface="Courier New"/>
              </a:rPr>
              <a:t>71%</a:t>
            </a:r>
          </a:p>
        </p:txBody>
      </p:sp>
      <p:sp>
        <p:nvSpPr>
          <p:cNvPr id="62" name="Oval 61"/>
          <p:cNvSpPr/>
          <p:nvPr/>
        </p:nvSpPr>
        <p:spPr>
          <a:xfrm>
            <a:off x="8622790" y="5650992"/>
            <a:ext cx="118872" cy="118872"/>
          </a:xfrm>
          <a:prstGeom prst="ellipse">
            <a:avLst/>
          </a:prstGeom>
          <a:solidFill>
            <a:srgbClr val="FDE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05670" y="5577840"/>
            <a:ext cx="777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8EA191"/>
                </a:solidFill>
                <a:latin typeface="Calibri"/>
              </a:rPr>
              <a:t>Right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8630" y="5650992"/>
            <a:ext cx="2240279" cy="59436"/>
          </a:xfrm>
          <a:prstGeom prst="rect">
            <a:avLst/>
          </a:prstGeom>
          <a:solidFill>
            <a:srgbClr val="1E3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628630" y="5650992"/>
            <a:ext cx="1120139" cy="59436"/>
          </a:xfrm>
          <a:prstGeom prst="rect">
            <a:avLst/>
          </a:prstGeom>
          <a:solidFill>
            <a:srgbClr val="FDE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695173" y="5577840"/>
            <a:ext cx="42062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8EA191"/>
                </a:solidFill>
                <a:latin typeface="Courier New"/>
              </a:rPr>
              <a:t>50%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55448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74980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A08B52"/>
                </a:solidFill>
                <a:latin typeface="Courier New"/>
              </a:rPr>
              <a:t>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8229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F1DDB0"/>
                </a:solidFill>
                <a:latin typeface="Garamond"/>
              </a:rPr>
              <a:t>The Right Tools for Every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B4C4B7"/>
                </a:solidFill>
                <a:latin typeface="Calibri"/>
              </a:rPr>
              <a:t>Everyone on the protocol team has access to exactly what they need — nothing more, nothing less.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50592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182E20"/>
          </a:solidFill>
          <a:ln w="6350">
            <a:solidFill>
              <a:srgbClr val="A08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615184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0" i="0">
                <a:solidFill>
                  <a:srgbClr val="EDF4EE"/>
                </a:solidFill>
                <a:latin typeface="Calibri"/>
              </a:rPr>
              <a:t>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200400"/>
            <a:ext cx="3328416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A08B52"/>
                </a:solidFill>
                <a:latin typeface="Courier New"/>
              </a:rPr>
              <a:t>ADMINISTRATOR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438144"/>
            <a:ext cx="3328416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EDF4EE"/>
                </a:solidFill>
                <a:latin typeface="Garamond"/>
              </a:rPr>
              <a:t>Full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959352"/>
            <a:ext cx="25603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8B52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59352"/>
            <a:ext cx="3035808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4C4B7"/>
                </a:solidFill>
                <a:latin typeface="Calibri"/>
              </a:rPr>
              <a:t>Create &amp; delete conferences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4361688"/>
            <a:ext cx="25603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8B52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361688"/>
            <a:ext cx="3035808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4C4B7"/>
                </a:solidFill>
                <a:latin typeface="Calibri"/>
              </a:rPr>
              <a:t>Manage all sessions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764024"/>
            <a:ext cx="25603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8B52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764024"/>
            <a:ext cx="3035808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4C4B7"/>
                </a:solidFill>
                <a:latin typeface="Calibri"/>
              </a:rPr>
              <a:t>Edit any seating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5166360"/>
            <a:ext cx="25603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8B52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66360"/>
            <a:ext cx="3035808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4C4B7"/>
                </a:solidFill>
                <a:latin typeface="Calibri"/>
              </a:rPr>
              <a:t>Manage user accounts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5568696"/>
            <a:ext cx="25603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8B52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568696"/>
            <a:ext cx="3035808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4C4B7"/>
                </a:solidFill>
                <a:latin typeface="Calibri"/>
              </a:rPr>
              <a:t>Access dignitary directory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5971032"/>
            <a:ext cx="25603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8B52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971032"/>
            <a:ext cx="3035808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4C4B7"/>
                </a:solidFill>
                <a:latin typeface="Calibri"/>
              </a:rPr>
              <a:t>View control centre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9976" y="2450592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2615184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0" i="0">
                <a:solidFill>
                  <a:srgbClr val="EDF4EE"/>
                </a:solidFill>
                <a:latin typeface="Calibri"/>
              </a:rPr>
              <a:t>✏️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3200400"/>
            <a:ext cx="3328416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A08B52"/>
                </a:solidFill>
                <a:latin typeface="Courier New"/>
              </a:rPr>
              <a:t>EDITOR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3438144"/>
            <a:ext cx="3328416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EDF4EE"/>
                </a:solidFill>
                <a:latin typeface="Garamond"/>
              </a:rPr>
              <a:t>Content Manager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3959352"/>
            <a:ext cx="25603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8B52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37176" y="3959352"/>
            <a:ext cx="3035808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4C4B7"/>
                </a:solidFill>
                <a:latin typeface="Calibri"/>
              </a:rPr>
              <a:t>Create new conferences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4361688"/>
            <a:ext cx="25603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8B52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7176" y="4361688"/>
            <a:ext cx="3035808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4C4B7"/>
                </a:solidFill>
                <a:latin typeface="Calibri"/>
              </a:rPr>
              <a:t>Add &amp; edit sessions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764024"/>
            <a:ext cx="25603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8B52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37176" y="4764024"/>
            <a:ext cx="3035808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4C4B7"/>
                </a:solidFill>
                <a:latin typeface="Calibri"/>
              </a:rPr>
              <a:t>Assign &amp; move seats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5166360"/>
            <a:ext cx="25603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8B52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37176" y="5166360"/>
            <a:ext cx="3035808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4C4B7"/>
                </a:solidFill>
                <a:latin typeface="Calibri"/>
              </a:rPr>
              <a:t>Add dignitaries to sessions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4568" y="5568696"/>
            <a:ext cx="25603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8B52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37176" y="5568696"/>
            <a:ext cx="3035808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4C4B7"/>
                </a:solidFill>
                <a:latin typeface="Calibri"/>
              </a:rPr>
              <a:t>Update attendance 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4568" y="5971032"/>
            <a:ext cx="25603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8B52"/>
                </a:solidFill>
                <a:latin typeface="Calibr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37176" y="5971032"/>
            <a:ext cx="3035808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4C4B7"/>
                </a:solidFill>
                <a:latin typeface="Calibri"/>
              </a:rPr>
              <a:t>View control centre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57032" y="2450592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21624" y="2615184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0" i="0">
                <a:solidFill>
                  <a:srgbClr val="EDF4EE"/>
                </a:solidFill>
                <a:latin typeface="Calibri"/>
              </a:rPr>
              <a:t>🎫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21624" y="3200400"/>
            <a:ext cx="3328416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A08B52"/>
                </a:solidFill>
                <a:latin typeface="Courier New"/>
              </a:rPr>
              <a:t>PROTOCOL MEMBER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21624" y="3438144"/>
            <a:ext cx="3328416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EDF4EE"/>
                </a:solidFill>
                <a:latin typeface="Garamond"/>
              </a:rPr>
              <a:t>Field Observer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21624" y="3959352"/>
            <a:ext cx="25603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8B52"/>
                </a:solidFill>
                <a:latin typeface="Calibri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14232" y="3959352"/>
            <a:ext cx="3035808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4C4B7"/>
                </a:solidFill>
                <a:latin typeface="Calibri"/>
              </a:rPr>
              <a:t>View seating maps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21624" y="4361688"/>
            <a:ext cx="25603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8B52"/>
                </a:solidFill>
                <a:latin typeface="Calibri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14232" y="4361688"/>
            <a:ext cx="3035808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4C4B7"/>
                </a:solidFill>
                <a:latin typeface="Calibri"/>
              </a:rPr>
              <a:t>See dignitary profiles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4764024"/>
            <a:ext cx="25603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8B52"/>
                </a:solidFill>
                <a:latin typeface="Calibri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14232" y="4764024"/>
            <a:ext cx="3035808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4C4B7"/>
                </a:solidFill>
                <a:latin typeface="Calibri"/>
              </a:rPr>
              <a:t>Update their own assignments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21624" y="5166360"/>
            <a:ext cx="256032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08B52"/>
                </a:solidFill>
                <a:latin typeface="Calibri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14232" y="5166360"/>
            <a:ext cx="3035808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4C4B7"/>
                </a:solidFill>
                <a:latin typeface="Calibri"/>
              </a:rPr>
              <a:t>View attendance status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55448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74980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A08B52"/>
                </a:solidFill>
                <a:latin typeface="Courier New"/>
              </a:rPr>
              <a:t>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8229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200" b="1" i="0">
                <a:solidFill>
                  <a:srgbClr val="F1DDB0"/>
                </a:solidFill>
                <a:latin typeface="Garamond"/>
              </a:rPr>
              <a:t>Up &amp; Running in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B4C4B7"/>
                </a:solidFill>
                <a:latin typeface="Calibri"/>
              </a:rPr>
              <a:t>Getting started takes four simple steps. Once your first conference is set up, future events take even less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578608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724912"/>
            <a:ext cx="5486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A08B52"/>
                </a:solidFill>
                <a:latin typeface="Garamon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74320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EDF4EE"/>
                </a:solidFill>
                <a:latin typeface="Calibri"/>
              </a:rPr>
              <a:t>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447288"/>
            <a:ext cx="2322576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EDF4EE"/>
                </a:solidFill>
                <a:latin typeface="Garamond"/>
              </a:rPr>
              <a:t>Sign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968496"/>
            <a:ext cx="2322576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EA191"/>
                </a:solidFill>
                <a:latin typeface="Calibri"/>
              </a:rPr>
              <a:t>Open the app in your browser and sign in. New users register in seconds.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3995928"/>
            <a:ext cx="25603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 i="0">
                <a:solidFill>
                  <a:srgbClr val="5A7060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2578608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8728" y="2724912"/>
            <a:ext cx="5486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A08B52"/>
                </a:solidFill>
                <a:latin typeface="Garamon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1536" y="274320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EDF4EE"/>
                </a:solidFill>
                <a:latin typeface="Calibri"/>
              </a:rPr>
              <a:t>🏟️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3447288"/>
            <a:ext cx="2322576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EDF4EE"/>
                </a:solidFill>
                <a:latin typeface="Garamond"/>
              </a:rPr>
              <a:t>Create a Conference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3968496"/>
            <a:ext cx="2322576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EA191"/>
                </a:solidFill>
                <a:latin typeface="Calibri"/>
              </a:rPr>
              <a:t>Name the event, set the date, pick the auditorium, and add sessions.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4184" y="3995928"/>
            <a:ext cx="25603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 i="0">
                <a:solidFill>
                  <a:srgbClr val="5A7060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2578608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2724912"/>
            <a:ext cx="5486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A08B52"/>
                </a:solidFill>
                <a:latin typeface="Garamon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74320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EDF4EE"/>
                </a:solidFill>
                <a:latin typeface="Calibri"/>
              </a:rPr>
              <a:t>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3447288"/>
            <a:ext cx="2322576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EDF4EE"/>
                </a:solidFill>
                <a:latin typeface="Garamond"/>
              </a:rPr>
              <a:t>Add Dignitaries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968496"/>
            <a:ext cx="2322576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EA191"/>
                </a:solidFill>
                <a:latin typeface="Calibri"/>
              </a:rPr>
              <a:t>Build or reuse the dignitary directory, then assign to each session.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995928"/>
            <a:ext cx="25603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 i="0">
                <a:solidFill>
                  <a:srgbClr val="5A7060"/>
                </a:solidFill>
                <a:latin typeface="Calibr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16568" y="2578608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2724912"/>
            <a:ext cx="5486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A08B52"/>
                </a:solidFill>
                <a:latin typeface="Garamon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73968" y="274320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EDF4EE"/>
                </a:solidFill>
                <a:latin typeface="Calibri"/>
              </a:rPr>
              <a:t>🗺️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3447288"/>
            <a:ext cx="2322576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EDF4EE"/>
                </a:solidFill>
                <a:latin typeface="Garamond"/>
              </a:rPr>
              <a:t>Seat &amp; Track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968496"/>
            <a:ext cx="2322576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EA191"/>
                </a:solidFill>
                <a:latin typeface="Calibri"/>
              </a:rPr>
              <a:t>Use the floor plan to assign seats, then go live on event day.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907024"/>
            <a:ext cx="11201400" cy="694944"/>
          </a:xfrm>
          <a:prstGeom prst="roundRect">
            <a:avLst>
              <a:gd name="adj" fmla="val 5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989320"/>
            <a:ext cx="411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EDF4EE"/>
                </a:solidFill>
                <a:latin typeface="Calibri"/>
              </a:rPr>
              <a:t>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" y="6007608"/>
            <a:ext cx="102412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4C4B7"/>
                </a:solidFill>
                <a:latin typeface="Calibri"/>
              </a:rPr>
              <a:t>Pro tip: Use Import Arrangement to copy an existing session's seating plan into a new session — saving hours of re-entry.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52647" y="685800"/>
            <a:ext cx="5486400" cy="5486400"/>
          </a:xfrm>
          <a:prstGeom prst="ellipse">
            <a:avLst/>
          </a:prstGeom>
          <a:solidFill>
            <a:srgbClr val="12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267047" y="1600200"/>
            <a:ext cx="3657600" cy="3657600"/>
          </a:xfrm>
          <a:prstGeom prst="ellipse">
            <a:avLst/>
          </a:prstGeom>
          <a:solidFill>
            <a:srgbClr val="0D2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687" y="914400"/>
            <a:ext cx="2560320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474720" y="1920240"/>
            <a:ext cx="5257800" cy="12700"/>
          </a:xfrm>
          <a:prstGeom prst="rect">
            <a:avLst/>
          </a:prstGeom>
          <a:solidFill>
            <a:srgbClr val="A0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60152" cy="9601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600" b="1" i="0">
                <a:solidFill>
                  <a:srgbClr val="F1DDB0"/>
                </a:solidFill>
                <a:latin typeface="Garamond"/>
              </a:rPr>
              <a:t>Dignitary Protocol,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60152" cy="9601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600" b="1" i="0">
                <a:solidFill>
                  <a:srgbClr val="D6BB75"/>
                </a:solidFill>
                <a:latin typeface="Garamond"/>
              </a:rPr>
              <a:t>Perfected.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023360"/>
            <a:ext cx="85313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8EA191"/>
                </a:solidFill>
                <a:latin typeface="Calibri"/>
              </a:rPr>
              <a:t>Pastors' Protocol Central brings peace of mind to every conference
— so your team can focus on honouring your guests, not managing spreadsheets.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5074920"/>
            <a:ext cx="5257800" cy="12700"/>
          </a:xfrm>
          <a:prstGeom prst="rect">
            <a:avLst/>
          </a:prstGeom>
          <a:solidFill>
            <a:srgbClr val="A0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5285232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0D1712"/>
          </a:solidFill>
          <a:ln w="6350">
            <a:solidFill>
              <a:srgbClr val="A08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D6BB75"/>
                </a:solidFill>
                <a:latin typeface="Calibri"/>
              </a:rPr>
              <a:t>✝ God's Love Tabernacle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5285232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0D1712"/>
          </a:solidFill>
          <a:ln w="6350">
            <a:solidFill>
              <a:srgbClr val="1E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B4C4B7"/>
                </a:solidFill>
                <a:latin typeface="Calibri"/>
              </a:rPr>
              <a:t>Pastors' Protocol Central v1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